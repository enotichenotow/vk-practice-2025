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8"/>
  </p:notesMasterIdLst>
  <p:handoutMasterIdLst>
    <p:handoutMasterId r:id="rId19"/>
  </p:handoutMasterIdLst>
  <p:sldIdLst>
    <p:sldId id="278" r:id="rId5"/>
    <p:sldId id="282" r:id="rId6"/>
    <p:sldId id="284" r:id="rId7"/>
    <p:sldId id="293" r:id="rId8"/>
    <p:sldId id="294" r:id="rId9"/>
    <p:sldId id="295" r:id="rId10"/>
    <p:sldId id="285" r:id="rId11"/>
    <p:sldId id="297" r:id="rId12"/>
    <p:sldId id="298" r:id="rId13"/>
    <p:sldId id="299" r:id="rId14"/>
    <p:sldId id="300" r:id="rId15"/>
    <p:sldId id="286" r:id="rId16"/>
    <p:sldId id="303" r:id="rId17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1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57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994" y="44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4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A2BF403D-D31F-44E0-A953-2F487045E3BD}" type="datetime1">
              <a:rPr lang="ru-RU" smtClean="0"/>
              <a:t>14.08.2025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FA70580-B89C-4157-871D-6B9318EE5F5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9EFF1ACC-FFD9-452A-B921-541D87D89ECF}" type="datetime1">
              <a:rPr lang="ru-RU" smtClean="0"/>
              <a:pPr/>
              <a:t>14.08.2025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7AF00E9-A49D-4007-B3B9-A3783809E50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80BDE-5588-97A1-6DF5-73F4D5EC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3C94194-6F08-98C8-CE5B-13EFC6275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13CDAC7-3F34-ED72-E02C-F828ED901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28C208-63F4-8443-3971-2575411F6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031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88C26-1432-BBF4-1CBE-92004DF3D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FED1870-EA9B-C024-943D-5C92E2A6C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55C164F-84EB-13CF-BBD9-197EE4B44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1F35CB-AC50-5D9A-DEEF-D318AE6C2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2657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2FDFB-C6AD-7266-F62E-AB8D0C882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CE63D7D-7148-7E61-1368-59CAD156A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2A12834-16E7-743F-A525-13C7D91B7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324A19-3D7D-D303-FED9-510A819D6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0386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E3A41-499C-E688-6EBA-1A2A6997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07B82B1-309E-CF08-58E4-1A556E701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1C9BA5C-2660-C053-254D-1151DFC61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063095-F757-FACD-511F-8C955E096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48770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7FB02-CABC-3614-D8C7-091DD1353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3E835EE-4C02-B0C3-3072-229E47839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AE4121C-4F67-370D-F250-E77DE3A6F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EE5C5A-E4EE-46DD-9AD3-A42CEC9AC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564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F8A45-40A1-3C36-F0ED-56FFFF2D6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368D190-AD54-4CB0-9A9E-E1C03ABE1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638ADC2-D567-0453-C108-C81B02EDB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A0A33A-AD42-43C8-C11E-0BA8002421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0567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47805-BC24-A4D1-214F-24C9A8071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9B6D695-FEC7-038B-6D53-093BD5769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B22F394-AEC1-A659-62C9-9989F9DDF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034658-89F3-0988-9AA5-6736FA86A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0593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B4193-6C4E-1471-5BD5-C8802395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7CD45B2-4A60-934E-15AE-07435A265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651EC9E-709D-1897-ECC5-AE5743ED9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A174C0-9CD0-1A27-474D-E26CB702D3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0498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ru-RU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2" name="Объект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200">
                <a:solidFill>
                  <a:schemeClr val="tx1"/>
                </a:solidFill>
              </a:defRPr>
            </a:lvl2pPr>
            <a:lvl3pPr>
              <a:defRPr lang="ru-RU" sz="1200">
                <a:solidFill>
                  <a:schemeClr val="tx1"/>
                </a:solidFill>
              </a:defRPr>
            </a:lvl3pPr>
            <a:lvl4pPr>
              <a:defRPr lang="ru-RU" sz="1200">
                <a:solidFill>
                  <a:schemeClr val="tx1"/>
                </a:solidFill>
              </a:defRPr>
            </a:lvl4pPr>
            <a:lvl5pPr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8" name="Полилиния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Овал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Полилиния: фигура 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Полилиния: фигура 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Полилиния: Фигура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подзаголовок +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ru-RU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Полилиния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2" name="Полилиния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3" name="Полилиния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Рисунок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ru-RU" sz="1800"/>
            </a:lvl1pPr>
          </a:lstStyle>
          <a:p>
            <a:pPr rtl="0"/>
            <a:r>
              <a:rPr lang="ru-RU"/>
              <a:t>Щелкните значок, чтобы добавить фото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Полилиния: фигура 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Полилиния: фигура 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Полилиния: Фигура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ru-RU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ru-RU" sz="1800">
                <a:solidFill>
                  <a:schemeClr val="tx1"/>
                </a:solidFill>
              </a:defRPr>
            </a:lvl1pPr>
            <a:lvl2pPr>
              <a:defRPr lang="ru-RU" sz="1200">
                <a:solidFill>
                  <a:schemeClr val="tx1"/>
                </a:solidFill>
              </a:defRPr>
            </a:lvl2pPr>
            <a:lvl3pPr>
              <a:defRPr lang="ru-RU" sz="1200">
                <a:solidFill>
                  <a:schemeClr val="tx1"/>
                </a:solidFill>
              </a:defRPr>
            </a:lvl3pPr>
            <a:lvl4pPr>
              <a:defRPr lang="ru-RU" sz="1200">
                <a:solidFill>
                  <a:schemeClr val="tx1"/>
                </a:solidFill>
              </a:defRPr>
            </a:lvl4pPr>
            <a:lvl5pPr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ru-RU" sz="5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Полилиния: Фигура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Полилиния: Фигура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800">
                <a:solidFill>
                  <a:schemeClr val="tx1"/>
                </a:solidFill>
              </a:defRPr>
            </a:lvl2pPr>
            <a:lvl3pPr>
              <a:defRPr lang="ru-RU" sz="1800">
                <a:solidFill>
                  <a:schemeClr val="tx1"/>
                </a:solidFill>
              </a:defRPr>
            </a:lvl3pPr>
            <a:lvl4pPr>
              <a:defRPr lang="ru-RU" sz="180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800">
                <a:solidFill>
                  <a:schemeClr val="tx1"/>
                </a:solidFill>
              </a:defRPr>
            </a:lvl2pPr>
            <a:lvl3pPr>
              <a:defRPr lang="ru-RU" sz="1800">
                <a:solidFill>
                  <a:schemeClr val="tx1"/>
                </a:solidFill>
              </a:defRPr>
            </a:lvl3pPr>
            <a:lvl4pPr>
              <a:defRPr lang="ru-RU" sz="180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ru-RU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Полилиния: фигура 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Дата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ru-RU" sz="6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ru-RU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 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36" name="Полилиния: Фигура 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ru-RU"/>
            </a:defPPr>
          </a:lstStyle>
          <a:p>
            <a:pPr lvl="0" rtl="0">
              <a:lnSpc>
                <a:spcPct val="100000"/>
              </a:lnSpc>
            </a:pPr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20ГГ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BA1B0FB-D917-4C8C-928F-313BD683BF39}" type="slidenum">
              <a:rPr lang="ru-RU" smtClean="0"/>
              <a:pPr/>
              <a:t>‹#›</a:t>
            </a:fld>
            <a:endParaRPr lang="ru-RU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7" r:id="rId3"/>
    <p:sldLayoutId id="2147483703" r:id="rId4"/>
    <p:sldLayoutId id="2147483698" r:id="rId5"/>
    <p:sldLayoutId id="2147483704" r:id="rId6"/>
    <p:sldLayoutId id="2147483688" r:id="rId7"/>
    <p:sldLayoutId id="2147483686" r:id="rId8"/>
    <p:sldLayoutId id="2147483685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823" y="55514"/>
            <a:ext cx="7390502" cy="5542025"/>
          </a:xfrm>
          <a:noFill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>
              <a:lnSpc>
                <a:spcPts val="5550"/>
              </a:lnSpc>
            </a:pPr>
            <a:r>
              <a:rPr lang="en-US" sz="4400" dirty="0">
                <a:solidFill>
                  <a:srgbClr val="9C9283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VK Practice:</a:t>
            </a:r>
            <a:r>
              <a:rPr lang="en-US" sz="4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4400" dirty="0" err="1"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Предсказание</a:t>
            </a:r>
            <a:r>
              <a:rPr lang="en-US" sz="4400" dirty="0"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4400" dirty="0" err="1"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Пола</a:t>
            </a:r>
            <a:r>
              <a:rPr lang="en-US" sz="4400" dirty="0"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4400" dirty="0" err="1"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Пользователей</a:t>
            </a:r>
            <a:endParaRPr lang="en-US" sz="4400" dirty="0"/>
          </a:p>
        </p:txBody>
      </p:sp>
      <p:pic>
        <p:nvPicPr>
          <p:cNvPr id="8" name="Рисунок 13" descr="Цифровой фон точек данных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8" r="12984"/>
          <a:stretch>
            <a:fillRect/>
          </a:stretch>
        </p:blipFill>
        <p:spPr>
          <a:xfrm>
            <a:off x="-45721" y="0"/>
            <a:ext cx="5140235" cy="68580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CD2E87-8381-0E2C-B6D6-C6C298A53783}"/>
              </a:ext>
            </a:extLst>
          </p:cNvPr>
          <p:cNvSpPr txBox="1"/>
          <p:nvPr/>
        </p:nvSpPr>
        <p:spPr>
          <a:xfrm>
            <a:off x="6514651" y="3906714"/>
            <a:ext cx="440653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 err="1">
                <a:latin typeface="Noto Serif Medium"/>
                <a:ea typeface="Noto Serif" pitchFamily="34" charset="-122"/>
                <a:cs typeface="Noto Serif" pitchFamily="34" charset="-120"/>
              </a:rPr>
              <a:t>Применение</a:t>
            </a:r>
            <a:r>
              <a:rPr lang="en-US" sz="2200" dirty="0">
                <a:latin typeface="Noto Serif Medium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2200" dirty="0" err="1">
                <a:latin typeface="Noto Serif Medium"/>
                <a:ea typeface="Noto Serif" pitchFamily="34" charset="-122"/>
                <a:cs typeface="Noto Serif" pitchFamily="34" charset="-120"/>
              </a:rPr>
              <a:t>машинного</a:t>
            </a:r>
            <a:r>
              <a:rPr lang="en-US" sz="2200" dirty="0">
                <a:latin typeface="Noto Serif Medium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2200" dirty="0" err="1">
                <a:latin typeface="Noto Serif Medium"/>
                <a:ea typeface="Noto Serif" pitchFamily="34" charset="-122"/>
                <a:cs typeface="Noto Serif" pitchFamily="34" charset="-120"/>
              </a:rPr>
              <a:t>обучения</a:t>
            </a:r>
            <a:r>
              <a:rPr lang="en-US" sz="2200" dirty="0">
                <a:latin typeface="Noto Serif Medium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2200" dirty="0" err="1">
                <a:latin typeface="Noto Serif Medium"/>
                <a:ea typeface="Noto Serif" pitchFamily="34" charset="-122"/>
                <a:cs typeface="Noto Serif" pitchFamily="34" charset="-120"/>
              </a:rPr>
              <a:t>для</a:t>
            </a:r>
            <a:r>
              <a:rPr lang="en-US" sz="2200" dirty="0">
                <a:latin typeface="Noto Serif Medium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2200" dirty="0" err="1">
                <a:latin typeface="Noto Serif Medium"/>
                <a:ea typeface="Noto Serif" pitchFamily="34" charset="-122"/>
                <a:cs typeface="Noto Serif" pitchFamily="34" charset="-120"/>
              </a:rPr>
              <a:t>точного</a:t>
            </a:r>
            <a:r>
              <a:rPr lang="en-US" sz="2200" dirty="0">
                <a:latin typeface="Noto Serif Medium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2200" dirty="0" err="1">
                <a:latin typeface="Noto Serif Medium"/>
                <a:ea typeface="Noto Serif" pitchFamily="34" charset="-122"/>
                <a:cs typeface="Noto Serif" pitchFamily="34" charset="-120"/>
              </a:rPr>
              <a:t>таргетинга</a:t>
            </a:r>
            <a:r>
              <a:rPr lang="en-US" sz="2200" dirty="0">
                <a:latin typeface="Noto Serif Medium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2200" dirty="0" err="1">
                <a:latin typeface="Noto Serif Medium"/>
                <a:ea typeface="Noto Serif" pitchFamily="34" charset="-122"/>
                <a:cs typeface="Noto Serif" pitchFamily="34" charset="-120"/>
              </a:rPr>
              <a:t>рекламы</a:t>
            </a:r>
            <a:endParaRPr lang="en-US" sz="2200" dirty="0">
              <a:latin typeface="Noto Serif Medium"/>
            </a:endParaRPr>
          </a:p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DC79C-CA7A-839B-4E08-EDD008F24551}"/>
              </a:ext>
            </a:extLst>
          </p:cNvPr>
          <p:cNvSpPr txBox="1"/>
          <p:nvPr/>
        </p:nvSpPr>
        <p:spPr>
          <a:xfrm>
            <a:off x="7640683" y="5397484"/>
            <a:ext cx="4406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i="1" dirty="0">
                <a:latin typeface="Noto Serif Medium"/>
                <a:ea typeface="Noto Serif" pitchFamily="34" charset="-122"/>
                <a:cs typeface="Noto Serif" pitchFamily="34" charset="-120"/>
              </a:rPr>
              <a:t>Выполнил Шваров Роман</a:t>
            </a:r>
            <a:endParaRPr lang="en-US" sz="2000" i="1" dirty="0">
              <a:latin typeface="Noto Serif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11090275" cy="809299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ts val="4450"/>
              </a:lnSpc>
            </a:pPr>
            <a:r>
              <a:rPr lang="en-US" sz="3500" dirty="0" err="1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Цель</a:t>
            </a:r>
            <a:r>
              <a:rPr lang="en-US" sz="3500" dirty="0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 </a:t>
            </a:r>
            <a:r>
              <a:rPr lang="en-US" sz="3500" dirty="0" err="1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Проекта</a:t>
            </a:r>
            <a:r>
              <a:rPr lang="en-US" sz="3500" dirty="0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 и </a:t>
            </a:r>
            <a:r>
              <a:rPr lang="en-US" sz="3500" dirty="0" err="1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Бизнес-Ценность</a:t>
            </a:r>
            <a:endParaRPr lang="en-US" sz="3500" dirty="0">
              <a:latin typeface="Noto Serif" panose="02020502060505020204" pitchFamily="18" charset="0"/>
              <a:ea typeface="Noto Serif" panose="02020502060505020204" pitchFamily="18" charset="0"/>
              <a:cs typeface="Noto Serif" panose="020205020605050202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1472406"/>
            <a:ext cx="11090274" cy="1956594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ts val="2850"/>
              </a:lnSpc>
            </a:pPr>
            <a:r>
              <a:rPr lang="ru-RU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роект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направлен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на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предсказание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пола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пользователей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социальных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сетей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на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основе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логов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показов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рекламы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.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Это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имеет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критическое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значение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для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VK Ads,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поскольку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позволяет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значительно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повысить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точность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таргетинга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рекламных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кампаний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например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подарочных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наборов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B68CA63-8B7D-DB75-8C86-FEB84018CC8F}"/>
              </a:ext>
            </a:extLst>
          </p:cNvPr>
          <p:cNvSpPr/>
          <p:nvPr/>
        </p:nvSpPr>
        <p:spPr>
          <a:xfrm>
            <a:off x="305638" y="3799735"/>
            <a:ext cx="3450659" cy="1677895"/>
          </a:xfrm>
          <a:prstGeom prst="roundRect">
            <a:avLst>
              <a:gd name="adj" fmla="val 7170"/>
            </a:avLst>
          </a:prstGeom>
          <a:solidFill>
            <a:srgbClr val="FDFBF7"/>
          </a:solidFill>
          <a:ln/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2AE3DEB-5D13-D41D-9F37-346ED3498E59}"/>
              </a:ext>
            </a:extLst>
          </p:cNvPr>
          <p:cNvSpPr/>
          <p:nvPr/>
        </p:nvSpPr>
        <p:spPr>
          <a:xfrm>
            <a:off x="305638" y="3769255"/>
            <a:ext cx="3450659" cy="100255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765A322-9365-0722-9C02-65AD3F5912D0}"/>
              </a:ext>
            </a:extLst>
          </p:cNvPr>
          <p:cNvSpPr/>
          <p:nvPr/>
        </p:nvSpPr>
        <p:spPr>
          <a:xfrm>
            <a:off x="1652056" y="3429000"/>
            <a:ext cx="559526" cy="559526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25EA701-4B7B-B065-A92B-221EF2429A82}"/>
              </a:ext>
            </a:extLst>
          </p:cNvPr>
          <p:cNvSpPr/>
          <p:nvPr/>
        </p:nvSpPr>
        <p:spPr>
          <a:xfrm>
            <a:off x="1860935" y="3522513"/>
            <a:ext cx="277646" cy="346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ADDDC9B-A1C9-79DE-706F-31C1FA4AE61D}"/>
              </a:ext>
            </a:extLst>
          </p:cNvPr>
          <p:cNvSpPr/>
          <p:nvPr/>
        </p:nvSpPr>
        <p:spPr>
          <a:xfrm>
            <a:off x="501972" y="4038433"/>
            <a:ext cx="2892208" cy="36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Улучшенный CTR</a:t>
            </a:r>
            <a:endParaRPr lang="en-US" sz="2100" dirty="0">
              <a:latin typeface="Noto Serif 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6550C11-5951-C79F-39E3-E4E10F9AB251}"/>
              </a:ext>
            </a:extLst>
          </p:cNvPr>
          <p:cNvSpPr/>
          <p:nvPr/>
        </p:nvSpPr>
        <p:spPr>
          <a:xfrm>
            <a:off x="501972" y="4449790"/>
            <a:ext cx="3555707" cy="74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Более релевантная реклама привлекает больше внимания.</a:t>
            </a:r>
            <a:endParaRPr lang="en-US" sz="15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6FFBFDED-C838-1898-8020-C6E2CD1D3D04}"/>
              </a:ext>
            </a:extLst>
          </p:cNvPr>
          <p:cNvSpPr/>
          <p:nvPr/>
        </p:nvSpPr>
        <p:spPr>
          <a:xfrm>
            <a:off x="4370670" y="3799735"/>
            <a:ext cx="3450659" cy="1677895"/>
          </a:xfrm>
          <a:prstGeom prst="roundRect">
            <a:avLst>
              <a:gd name="adj" fmla="val 7170"/>
            </a:avLst>
          </a:prstGeom>
          <a:solidFill>
            <a:srgbClr val="FDFBF7"/>
          </a:solidFill>
          <a:ln/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8F8BB957-52D9-CA8F-8C92-0BDFF5FF869F}"/>
              </a:ext>
            </a:extLst>
          </p:cNvPr>
          <p:cNvSpPr/>
          <p:nvPr/>
        </p:nvSpPr>
        <p:spPr>
          <a:xfrm>
            <a:off x="4370670" y="3769255"/>
            <a:ext cx="3450659" cy="100255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99083ED5-2F58-BC6A-1C44-396107F10431}"/>
              </a:ext>
            </a:extLst>
          </p:cNvPr>
          <p:cNvSpPr/>
          <p:nvPr/>
        </p:nvSpPr>
        <p:spPr>
          <a:xfrm>
            <a:off x="5717088" y="3429000"/>
            <a:ext cx="559526" cy="559526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2EFAEBF-DAD5-4201-B582-8248C68D3429}"/>
              </a:ext>
            </a:extLst>
          </p:cNvPr>
          <p:cNvSpPr/>
          <p:nvPr/>
        </p:nvSpPr>
        <p:spPr>
          <a:xfrm>
            <a:off x="5927831" y="3538036"/>
            <a:ext cx="277646" cy="346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09B7351-3B6E-BEA9-7819-D7ADD41F8F8F}"/>
              </a:ext>
            </a:extLst>
          </p:cNvPr>
          <p:cNvSpPr/>
          <p:nvPr/>
        </p:nvSpPr>
        <p:spPr>
          <a:xfrm>
            <a:off x="4567004" y="4038433"/>
            <a:ext cx="2892208" cy="36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Рост Конверсии</a:t>
            </a:r>
            <a:endParaRPr lang="en-US" sz="2100" dirty="0">
              <a:latin typeface="Noto Serif 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55DCD85-F3E3-6CC4-9428-356F3A4609CF}"/>
              </a:ext>
            </a:extLst>
          </p:cNvPr>
          <p:cNvSpPr/>
          <p:nvPr/>
        </p:nvSpPr>
        <p:spPr>
          <a:xfrm>
            <a:off x="4567004" y="4449790"/>
            <a:ext cx="3620434" cy="74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Выше вероятность совершения целевого действия.</a:t>
            </a:r>
            <a:endParaRPr lang="en-US" sz="150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2DF93C75-1ECA-30DD-EA6E-B0D7F2CAB797}"/>
              </a:ext>
            </a:extLst>
          </p:cNvPr>
          <p:cNvSpPr/>
          <p:nvPr/>
        </p:nvSpPr>
        <p:spPr>
          <a:xfrm>
            <a:off x="8383772" y="3799735"/>
            <a:ext cx="3450659" cy="1677895"/>
          </a:xfrm>
          <a:prstGeom prst="roundRect">
            <a:avLst>
              <a:gd name="adj" fmla="val 7170"/>
            </a:avLst>
          </a:prstGeom>
          <a:solidFill>
            <a:srgbClr val="FDFBF7"/>
          </a:solidFill>
          <a:ln/>
          <a:effectLst>
            <a:outerShdw dist="2032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506FD1F6-5AD0-47BE-9619-64ACAA7410FC}"/>
              </a:ext>
            </a:extLst>
          </p:cNvPr>
          <p:cNvSpPr/>
          <p:nvPr/>
        </p:nvSpPr>
        <p:spPr>
          <a:xfrm>
            <a:off x="8383772" y="3769255"/>
            <a:ext cx="3450659" cy="100255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C64FC7A1-266E-140F-6C71-93B083D534B0}"/>
              </a:ext>
            </a:extLst>
          </p:cNvPr>
          <p:cNvSpPr/>
          <p:nvPr/>
        </p:nvSpPr>
        <p:spPr>
          <a:xfrm>
            <a:off x="9730191" y="3429000"/>
            <a:ext cx="559526" cy="559526"/>
          </a:xfrm>
          <a:prstGeom prst="roundRect">
            <a:avLst>
              <a:gd name="adj" fmla="val 134383"/>
            </a:avLst>
          </a:prstGeom>
          <a:solidFill>
            <a:srgbClr val="E6DED2">
              <a:alpha val="50000"/>
            </a:srgbClr>
          </a:solidFill>
          <a:ln/>
        </p:spPr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DD8B3B51-2B54-D7A5-9164-834B2E9C16EC}"/>
              </a:ext>
            </a:extLst>
          </p:cNvPr>
          <p:cNvSpPr/>
          <p:nvPr/>
        </p:nvSpPr>
        <p:spPr>
          <a:xfrm>
            <a:off x="9934263" y="3538036"/>
            <a:ext cx="223811" cy="27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1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A4978AC-2A24-CE62-9A91-CF869058826D}"/>
              </a:ext>
            </a:extLst>
          </p:cNvPr>
          <p:cNvSpPr/>
          <p:nvPr/>
        </p:nvSpPr>
        <p:spPr>
          <a:xfrm>
            <a:off x="8580106" y="4038433"/>
            <a:ext cx="3450659" cy="36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100" dirty="0">
                <a:solidFill>
                  <a:srgbClr val="4C4C4C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Оптимизация Бюджета</a:t>
            </a:r>
            <a:endParaRPr lang="en-US" sz="2100" dirty="0">
              <a:latin typeface="Noto Serif 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D448E167-9D59-51D3-A877-91056EE283ED}"/>
              </a:ext>
            </a:extLst>
          </p:cNvPr>
          <p:cNvSpPr/>
          <p:nvPr/>
        </p:nvSpPr>
        <p:spPr>
          <a:xfrm>
            <a:off x="8575502" y="4449790"/>
            <a:ext cx="2941334" cy="74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5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Снижение затрат на нецелевые показы.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354" y="822836"/>
            <a:ext cx="12448858" cy="145021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ts val="3650"/>
              </a:lnSpc>
            </a:pPr>
            <a:r>
              <a:rPr lang="en-US" sz="3500" dirty="0" err="1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Пайплайн</a:t>
            </a:r>
            <a:r>
              <a:rPr lang="en-US" sz="3500" dirty="0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 </a:t>
            </a:r>
            <a:r>
              <a:rPr lang="en-US" sz="3500" dirty="0" err="1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Решения</a:t>
            </a:r>
            <a:r>
              <a:rPr lang="en-US" sz="3500" dirty="0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: </a:t>
            </a:r>
            <a:r>
              <a:rPr lang="en-US" sz="3500" dirty="0" err="1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От</a:t>
            </a:r>
            <a:r>
              <a:rPr lang="en-US" sz="3500" dirty="0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 Данных к </a:t>
            </a:r>
            <a:r>
              <a:rPr lang="en-US" sz="3500" dirty="0" err="1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Предсказанию</a:t>
            </a:r>
            <a:endParaRPr lang="en-US" sz="3500" dirty="0">
              <a:latin typeface="Noto Serif" panose="02020502060505020204" pitchFamily="18" charset="0"/>
              <a:ea typeface="Noto Serif" panose="02020502060505020204" pitchFamily="18" charset="0"/>
              <a:cs typeface="Noto Serif" panose="02020502060505020204" pitchFamily="18" charset="0"/>
            </a:endParaRPr>
          </a:p>
        </p:txBody>
      </p:sp>
      <p:sp>
        <p:nvSpPr>
          <p:cNvPr id="88" name="Text 2">
            <a:extLst>
              <a:ext uri="{FF2B5EF4-FFF2-40B4-BE49-F238E27FC236}">
                <a16:creationId xmlns:a16="http://schemas.microsoft.com/office/drawing/2014/main" id="{8307BAFB-D353-F2EA-781C-A57C0F23E4A6}"/>
              </a:ext>
            </a:extLst>
          </p:cNvPr>
          <p:cNvSpPr/>
          <p:nvPr/>
        </p:nvSpPr>
        <p:spPr>
          <a:xfrm>
            <a:off x="323534" y="1493876"/>
            <a:ext cx="178013" cy="27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450" dirty="0"/>
          </a:p>
        </p:txBody>
      </p:sp>
      <p:sp>
        <p:nvSpPr>
          <p:cNvPr id="90" name="Text 4">
            <a:extLst>
              <a:ext uri="{FF2B5EF4-FFF2-40B4-BE49-F238E27FC236}">
                <a16:creationId xmlns:a16="http://schemas.microsoft.com/office/drawing/2014/main" id="{28A0CAD6-30C4-3710-52F2-889574E02750}"/>
              </a:ext>
            </a:extLst>
          </p:cNvPr>
          <p:cNvSpPr/>
          <p:nvPr/>
        </p:nvSpPr>
        <p:spPr>
          <a:xfrm>
            <a:off x="323534" y="1927979"/>
            <a:ext cx="2691176" cy="343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latin typeface="Noto Serif "/>
                <a:ea typeface="Noto Serif Medium" pitchFamily="34" charset="-122"/>
                <a:cs typeface="Noto Serif Medium" pitchFamily="34" charset="-120"/>
              </a:rPr>
              <a:t>Загрузка и Обогащение</a:t>
            </a:r>
            <a:endParaRPr lang="en-US" sz="1800" dirty="0">
              <a:latin typeface="Noto Serif "/>
            </a:endParaRPr>
          </a:p>
        </p:txBody>
      </p:sp>
      <p:sp>
        <p:nvSpPr>
          <p:cNvPr id="91" name="Text 5">
            <a:extLst>
              <a:ext uri="{FF2B5EF4-FFF2-40B4-BE49-F238E27FC236}">
                <a16:creationId xmlns:a16="http://schemas.microsoft.com/office/drawing/2014/main" id="{CC6CF4A5-E789-284E-58A7-6E84243E85C5}"/>
              </a:ext>
            </a:extLst>
          </p:cNvPr>
          <p:cNvSpPr/>
          <p:nvPr/>
        </p:nvSpPr>
        <p:spPr>
          <a:xfrm>
            <a:off x="323535" y="2332196"/>
            <a:ext cx="5286962" cy="703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Загрузка CSV, объединение с referer_vectors, geo_info, парсинг user_agent и расчет временных меток.</a:t>
            </a:r>
            <a:endParaRPr lang="en-US" sz="1450" dirty="0"/>
          </a:p>
        </p:txBody>
      </p:sp>
      <p:sp>
        <p:nvSpPr>
          <p:cNvPr id="92" name="Text 6">
            <a:extLst>
              <a:ext uri="{FF2B5EF4-FFF2-40B4-BE49-F238E27FC236}">
                <a16:creationId xmlns:a16="http://schemas.microsoft.com/office/drawing/2014/main" id="{E851D0AE-C5E5-7A8D-CB5B-E336A8241780}"/>
              </a:ext>
            </a:extLst>
          </p:cNvPr>
          <p:cNvSpPr/>
          <p:nvPr/>
        </p:nvSpPr>
        <p:spPr>
          <a:xfrm>
            <a:off x="5624751" y="1490813"/>
            <a:ext cx="186928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4" name="Text 8">
            <a:extLst>
              <a:ext uri="{FF2B5EF4-FFF2-40B4-BE49-F238E27FC236}">
                <a16:creationId xmlns:a16="http://schemas.microsoft.com/office/drawing/2014/main" id="{A4507685-3692-754F-B1C9-20F6CB6796F9}"/>
              </a:ext>
            </a:extLst>
          </p:cNvPr>
          <p:cNvSpPr/>
          <p:nvPr/>
        </p:nvSpPr>
        <p:spPr>
          <a:xfrm>
            <a:off x="5624751" y="1924915"/>
            <a:ext cx="2337554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latin typeface="Noto Serif "/>
                <a:ea typeface="Noto Serif Medium" pitchFamily="34" charset="-122"/>
                <a:cs typeface="Noto Serif Medium" pitchFamily="34" charset="-120"/>
              </a:rPr>
              <a:t>Feature Engineering</a:t>
            </a:r>
            <a:endParaRPr lang="en-US" sz="1800" dirty="0">
              <a:latin typeface="Noto Serif "/>
            </a:endParaRPr>
          </a:p>
        </p:txBody>
      </p:sp>
      <p:sp>
        <p:nvSpPr>
          <p:cNvPr id="95" name="Text 9">
            <a:extLst>
              <a:ext uri="{FF2B5EF4-FFF2-40B4-BE49-F238E27FC236}">
                <a16:creationId xmlns:a16="http://schemas.microsoft.com/office/drawing/2014/main" id="{B82DB756-8418-371F-805F-A04BC5EC1F59}"/>
              </a:ext>
            </a:extLst>
          </p:cNvPr>
          <p:cNvSpPr/>
          <p:nvPr/>
        </p:nvSpPr>
        <p:spPr>
          <a:xfrm>
            <a:off x="5624751" y="2329132"/>
            <a:ext cx="6567249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Генерация поведенческих признаков: доли активности по времени, частоты, энтропии, сессии, recency, агрегаты.</a:t>
            </a:r>
            <a:endParaRPr lang="en-US" sz="1450" dirty="0"/>
          </a:p>
        </p:txBody>
      </p:sp>
      <p:sp>
        <p:nvSpPr>
          <p:cNvPr id="99" name="Shape 3">
            <a:extLst>
              <a:ext uri="{FF2B5EF4-FFF2-40B4-BE49-F238E27FC236}">
                <a16:creationId xmlns:a16="http://schemas.microsoft.com/office/drawing/2014/main" id="{C79464F7-BBE2-F959-A2FF-36706D31E10B}"/>
              </a:ext>
            </a:extLst>
          </p:cNvPr>
          <p:cNvSpPr/>
          <p:nvPr/>
        </p:nvSpPr>
        <p:spPr>
          <a:xfrm>
            <a:off x="323534" y="1819927"/>
            <a:ext cx="6567249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02" name="Text 10">
            <a:extLst>
              <a:ext uri="{FF2B5EF4-FFF2-40B4-BE49-F238E27FC236}">
                <a16:creationId xmlns:a16="http://schemas.microsoft.com/office/drawing/2014/main" id="{B868F071-9F2D-00BD-9DB8-7A8960A45B00}"/>
              </a:ext>
            </a:extLst>
          </p:cNvPr>
          <p:cNvSpPr/>
          <p:nvPr/>
        </p:nvSpPr>
        <p:spPr>
          <a:xfrm>
            <a:off x="323534" y="3019189"/>
            <a:ext cx="186928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03" name="Shape 11">
            <a:extLst>
              <a:ext uri="{FF2B5EF4-FFF2-40B4-BE49-F238E27FC236}">
                <a16:creationId xmlns:a16="http://schemas.microsoft.com/office/drawing/2014/main" id="{8D720227-EDAA-5012-03E5-4092AD30CBD2}"/>
              </a:ext>
            </a:extLst>
          </p:cNvPr>
          <p:cNvSpPr/>
          <p:nvPr/>
        </p:nvSpPr>
        <p:spPr>
          <a:xfrm>
            <a:off x="323534" y="3314107"/>
            <a:ext cx="6567249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04" name="Text 12">
            <a:extLst>
              <a:ext uri="{FF2B5EF4-FFF2-40B4-BE49-F238E27FC236}">
                <a16:creationId xmlns:a16="http://schemas.microsoft.com/office/drawing/2014/main" id="{712A8233-C793-6D8A-0D37-2C304567E695}"/>
              </a:ext>
            </a:extLst>
          </p:cNvPr>
          <p:cNvSpPr/>
          <p:nvPr/>
        </p:nvSpPr>
        <p:spPr>
          <a:xfrm>
            <a:off x="323534" y="3453291"/>
            <a:ext cx="2786896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rPr>
              <a:t>Агрегация до User-level</a:t>
            </a:r>
          </a:p>
        </p:txBody>
      </p:sp>
      <p:sp>
        <p:nvSpPr>
          <p:cNvPr id="105" name="Text 13">
            <a:extLst>
              <a:ext uri="{FF2B5EF4-FFF2-40B4-BE49-F238E27FC236}">
                <a16:creationId xmlns:a16="http://schemas.microsoft.com/office/drawing/2014/main" id="{68924314-2016-9E7C-36ED-6B547459DC86}"/>
              </a:ext>
            </a:extLst>
          </p:cNvPr>
          <p:cNvSpPr/>
          <p:nvPr/>
        </p:nvSpPr>
        <p:spPr>
          <a:xfrm>
            <a:off x="323534" y="3857508"/>
            <a:ext cx="5001048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Консолидация всех данных в одну строку </a:t>
            </a:r>
            <a:r>
              <a:rPr lang="en-US" sz="145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на</a:t>
            </a:r>
            <a:r>
              <a:rPr lang="en-US" sz="145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45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пользователя</a:t>
            </a:r>
            <a:r>
              <a:rPr lang="en-US" sz="145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sz="1450" dirty="0"/>
          </a:p>
        </p:txBody>
      </p:sp>
      <p:sp>
        <p:nvSpPr>
          <p:cNvPr id="106" name="Text 14">
            <a:extLst>
              <a:ext uri="{FF2B5EF4-FFF2-40B4-BE49-F238E27FC236}">
                <a16:creationId xmlns:a16="http://schemas.microsoft.com/office/drawing/2014/main" id="{B796DDC9-5941-CBB3-D421-9D346B010DCA}"/>
              </a:ext>
            </a:extLst>
          </p:cNvPr>
          <p:cNvSpPr/>
          <p:nvPr/>
        </p:nvSpPr>
        <p:spPr>
          <a:xfrm>
            <a:off x="5585840" y="3019189"/>
            <a:ext cx="186928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07" name="Shape 15">
            <a:extLst>
              <a:ext uri="{FF2B5EF4-FFF2-40B4-BE49-F238E27FC236}">
                <a16:creationId xmlns:a16="http://schemas.microsoft.com/office/drawing/2014/main" id="{6B98543A-3594-40C0-6AD3-BF9F056CC41E}"/>
              </a:ext>
            </a:extLst>
          </p:cNvPr>
          <p:cNvSpPr/>
          <p:nvPr/>
        </p:nvSpPr>
        <p:spPr>
          <a:xfrm>
            <a:off x="5585840" y="3314107"/>
            <a:ext cx="6567249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08" name="Text 16">
            <a:extLst>
              <a:ext uri="{FF2B5EF4-FFF2-40B4-BE49-F238E27FC236}">
                <a16:creationId xmlns:a16="http://schemas.microsoft.com/office/drawing/2014/main" id="{94BB6ED8-0A21-4379-5586-F47B1F401C19}"/>
              </a:ext>
            </a:extLst>
          </p:cNvPr>
          <p:cNvSpPr/>
          <p:nvPr/>
        </p:nvSpPr>
        <p:spPr>
          <a:xfrm>
            <a:off x="5585840" y="3453291"/>
            <a:ext cx="3154799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latin typeface="Noto Serif "/>
                <a:ea typeface="Noto Serif Medium" pitchFamily="34" charset="-122"/>
                <a:cs typeface="Noto Serif Medium" pitchFamily="34" charset="-120"/>
              </a:rPr>
              <a:t>Моделирование с CatBoost</a:t>
            </a:r>
            <a:endParaRPr lang="en-US" sz="1800" dirty="0">
              <a:latin typeface="Noto Serif "/>
            </a:endParaRPr>
          </a:p>
        </p:txBody>
      </p:sp>
      <p:sp>
        <p:nvSpPr>
          <p:cNvPr id="109" name="Text 17">
            <a:extLst>
              <a:ext uri="{FF2B5EF4-FFF2-40B4-BE49-F238E27FC236}">
                <a16:creationId xmlns:a16="http://schemas.microsoft.com/office/drawing/2014/main" id="{42E33C9C-2D5A-5E2B-5B9E-A2243C76F29B}"/>
              </a:ext>
            </a:extLst>
          </p:cNvPr>
          <p:cNvSpPr/>
          <p:nvPr/>
        </p:nvSpPr>
        <p:spPr>
          <a:xfrm>
            <a:off x="5585840" y="3857508"/>
            <a:ext cx="6567249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Использование градиентного бустинга для построения надежной предсказательной модели.</a:t>
            </a:r>
            <a:endParaRPr lang="en-US" sz="1450" dirty="0"/>
          </a:p>
        </p:txBody>
      </p:sp>
      <p:sp>
        <p:nvSpPr>
          <p:cNvPr id="114" name="Text 18">
            <a:extLst>
              <a:ext uri="{FF2B5EF4-FFF2-40B4-BE49-F238E27FC236}">
                <a16:creationId xmlns:a16="http://schemas.microsoft.com/office/drawing/2014/main" id="{4B4772AD-A99E-9283-1772-EA29C32773E5}"/>
              </a:ext>
            </a:extLst>
          </p:cNvPr>
          <p:cNvSpPr/>
          <p:nvPr/>
        </p:nvSpPr>
        <p:spPr>
          <a:xfrm>
            <a:off x="323534" y="4515731"/>
            <a:ext cx="186928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1450" dirty="0"/>
          </a:p>
        </p:txBody>
      </p:sp>
      <p:sp>
        <p:nvSpPr>
          <p:cNvPr id="115" name="Shape 19">
            <a:extLst>
              <a:ext uri="{FF2B5EF4-FFF2-40B4-BE49-F238E27FC236}">
                <a16:creationId xmlns:a16="http://schemas.microsoft.com/office/drawing/2014/main" id="{CD4B413B-C4A1-4883-C324-1F8D920D2F86}"/>
              </a:ext>
            </a:extLst>
          </p:cNvPr>
          <p:cNvSpPr/>
          <p:nvPr/>
        </p:nvSpPr>
        <p:spPr>
          <a:xfrm>
            <a:off x="323534" y="4810649"/>
            <a:ext cx="6567249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16" name="Text 20">
            <a:extLst>
              <a:ext uri="{FF2B5EF4-FFF2-40B4-BE49-F238E27FC236}">
                <a16:creationId xmlns:a16="http://schemas.microsoft.com/office/drawing/2014/main" id="{27F88553-D87E-1180-2C81-CEAB3EA1470E}"/>
              </a:ext>
            </a:extLst>
          </p:cNvPr>
          <p:cNvSpPr/>
          <p:nvPr/>
        </p:nvSpPr>
        <p:spPr>
          <a:xfrm>
            <a:off x="323534" y="4949833"/>
            <a:ext cx="2337554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latin typeface="Noto Serif "/>
                <a:ea typeface="Noto Serif Medium" pitchFamily="34" charset="-122"/>
                <a:cs typeface="Noto Serif Medium" pitchFamily="34" charset="-120"/>
              </a:rPr>
              <a:t>Кросс-валидация</a:t>
            </a:r>
            <a:endParaRPr lang="en-US" sz="1800" dirty="0">
              <a:latin typeface="Noto Serif "/>
            </a:endParaRPr>
          </a:p>
        </p:txBody>
      </p:sp>
      <p:sp>
        <p:nvSpPr>
          <p:cNvPr id="117" name="Text 21">
            <a:extLst>
              <a:ext uri="{FF2B5EF4-FFF2-40B4-BE49-F238E27FC236}">
                <a16:creationId xmlns:a16="http://schemas.microsoft.com/office/drawing/2014/main" id="{E3C412AB-526E-127E-523B-54E58F8C3466}"/>
              </a:ext>
            </a:extLst>
          </p:cNvPr>
          <p:cNvSpPr/>
          <p:nvPr/>
        </p:nvSpPr>
        <p:spPr>
          <a:xfrm>
            <a:off x="323534" y="5354050"/>
            <a:ext cx="4976391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5-кратная стратифицированная кросс-валидация с OOF-предсказаниями и подбором порога по F1.</a:t>
            </a:r>
            <a:endParaRPr lang="en-US" sz="1450" dirty="0"/>
          </a:p>
        </p:txBody>
      </p:sp>
      <p:sp>
        <p:nvSpPr>
          <p:cNvPr id="118" name="Text 22">
            <a:extLst>
              <a:ext uri="{FF2B5EF4-FFF2-40B4-BE49-F238E27FC236}">
                <a16:creationId xmlns:a16="http://schemas.microsoft.com/office/drawing/2014/main" id="{E34BE4AD-4B1F-E425-4205-51C0EA14AAF7}"/>
              </a:ext>
            </a:extLst>
          </p:cNvPr>
          <p:cNvSpPr/>
          <p:nvPr/>
        </p:nvSpPr>
        <p:spPr>
          <a:xfrm>
            <a:off x="5585840" y="4515731"/>
            <a:ext cx="186928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06</a:t>
            </a:r>
            <a:endParaRPr lang="en-US" sz="1450" dirty="0"/>
          </a:p>
        </p:txBody>
      </p:sp>
      <p:sp>
        <p:nvSpPr>
          <p:cNvPr id="119" name="Shape 23">
            <a:extLst>
              <a:ext uri="{FF2B5EF4-FFF2-40B4-BE49-F238E27FC236}">
                <a16:creationId xmlns:a16="http://schemas.microsoft.com/office/drawing/2014/main" id="{E2D2E6B7-FEEF-CAE4-40BD-0410598C720C}"/>
              </a:ext>
            </a:extLst>
          </p:cNvPr>
          <p:cNvSpPr/>
          <p:nvPr/>
        </p:nvSpPr>
        <p:spPr>
          <a:xfrm>
            <a:off x="5585840" y="4810649"/>
            <a:ext cx="6567249" cy="2286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120" name="Text 24">
            <a:extLst>
              <a:ext uri="{FF2B5EF4-FFF2-40B4-BE49-F238E27FC236}">
                <a16:creationId xmlns:a16="http://schemas.microsoft.com/office/drawing/2014/main" id="{7D41C576-7D75-2A8C-FBBD-664AB0CEFF7A}"/>
              </a:ext>
            </a:extLst>
          </p:cNvPr>
          <p:cNvSpPr/>
          <p:nvPr/>
        </p:nvSpPr>
        <p:spPr>
          <a:xfrm>
            <a:off x="5585840" y="4949833"/>
            <a:ext cx="2372797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latin typeface="Noto Serif "/>
                <a:ea typeface="Noto Serif Medium" pitchFamily="34" charset="-122"/>
                <a:cs typeface="Noto Serif Medium" pitchFamily="34" charset="-120"/>
              </a:rPr>
              <a:t>Инференс и Сабмит</a:t>
            </a:r>
            <a:endParaRPr lang="en-US" sz="1800" dirty="0">
              <a:latin typeface="Noto Serif "/>
            </a:endParaRPr>
          </a:p>
        </p:txBody>
      </p:sp>
      <p:sp>
        <p:nvSpPr>
          <p:cNvPr id="121" name="Text 25">
            <a:extLst>
              <a:ext uri="{FF2B5EF4-FFF2-40B4-BE49-F238E27FC236}">
                <a16:creationId xmlns:a16="http://schemas.microsoft.com/office/drawing/2014/main" id="{49CE5257-A779-316D-437F-B0BCFAFD9A4C}"/>
              </a:ext>
            </a:extLst>
          </p:cNvPr>
          <p:cNvSpPr/>
          <p:nvPr/>
        </p:nvSpPr>
        <p:spPr>
          <a:xfrm>
            <a:off x="5585840" y="5354050"/>
            <a:ext cx="6567249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Обучение финальной модели на всей обучающей выборке и генерация файла submission.csv для тестовых пользователей.</a:t>
            </a:r>
            <a:endParaRPr lang="en-US" sz="1450" dirty="0"/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A959EA9D-6EF2-988F-24A5-8F95291458A8}"/>
              </a:ext>
            </a:extLst>
          </p:cNvPr>
          <p:cNvSpPr/>
          <p:nvPr/>
        </p:nvSpPr>
        <p:spPr>
          <a:xfrm>
            <a:off x="5324582" y="1508760"/>
            <a:ext cx="261258" cy="5016137"/>
          </a:xfrm>
          <a:prstGeom prst="rect">
            <a:avLst/>
          </a:prstGeom>
          <a:solidFill>
            <a:srgbClr val="1B19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1B192E"/>
              </a:solidFill>
              <a:highlight>
                <a:srgbClr val="FFFF00"/>
              </a:highlight>
            </a:endParaRPr>
          </a:p>
        </p:txBody>
      </p:sp>
      <p:sp>
        <p:nvSpPr>
          <p:cNvPr id="122" name="Shape 3">
            <a:extLst>
              <a:ext uri="{FF2B5EF4-FFF2-40B4-BE49-F238E27FC236}">
                <a16:creationId xmlns:a16="http://schemas.microsoft.com/office/drawing/2014/main" id="{784357EE-45CE-AC78-0CB8-AD4DB2D3A6C1}"/>
              </a:ext>
            </a:extLst>
          </p:cNvPr>
          <p:cNvSpPr/>
          <p:nvPr/>
        </p:nvSpPr>
        <p:spPr>
          <a:xfrm>
            <a:off x="5679304" y="1819927"/>
            <a:ext cx="6567249" cy="22860"/>
          </a:xfrm>
          <a:prstGeom prst="rect">
            <a:avLst/>
          </a:prstGeom>
          <a:solidFill>
            <a:srgbClr val="E6DED2"/>
          </a:solidFill>
          <a:ln/>
        </p:spPr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8056-96BC-02CD-5AAB-24AA7669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397F5F-27D5-B59C-D1A9-DE9ECF87F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095" y="110752"/>
            <a:ext cx="11039157" cy="1112520"/>
          </a:xfrm>
          <a:noFill/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>
              <a:lnSpc>
                <a:spcPts val="4050"/>
              </a:lnSpc>
            </a:pP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Модель</a:t>
            </a:r>
            <a:r>
              <a:rPr lang="en-US" sz="3500" dirty="0">
                <a:latin typeface="Noto Serif "/>
                <a:ea typeface="Noto Serif Medium" pitchFamily="34" charset="-122"/>
                <a:cs typeface="Noto Serif Medium" pitchFamily="34" charset="-120"/>
              </a:rPr>
              <a:t>: </a:t>
            </a: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CatBoost</a:t>
            </a:r>
            <a:r>
              <a:rPr lang="en-US" sz="3500" dirty="0">
                <a:latin typeface="Noto Serif 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для</a:t>
            </a:r>
            <a:r>
              <a:rPr lang="en-US" sz="3500" dirty="0">
                <a:latin typeface="Noto Serif 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Точных</a:t>
            </a:r>
            <a:r>
              <a:rPr lang="en-US" sz="3500" dirty="0">
                <a:latin typeface="Noto Serif 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Предсказаний</a:t>
            </a:r>
            <a:endParaRPr lang="en-US" sz="3500" dirty="0">
              <a:latin typeface="Noto Serif 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0D285C-0D73-FD51-55CB-A9423ACE2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1" y="1709105"/>
            <a:ext cx="12298680" cy="2352356"/>
          </a:xfrm>
          <a:noFill/>
        </p:spPr>
        <p:txBody>
          <a:bodyPr rtlCol="0"/>
          <a:lstStyle>
            <a:defPPr>
              <a:defRPr lang="ru-RU"/>
            </a:defPPr>
          </a:lstStyle>
          <a:p>
            <a:pPr>
              <a:lnSpc>
                <a:spcPts val="2600"/>
              </a:lnSpc>
            </a:pP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CatBoostClassifier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мощный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ансамбль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из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неглубоких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деревьев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решений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который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отлично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подходит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для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данной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задачи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благодаря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своей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способности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работать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с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категориальными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признаками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напрямую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и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устойчивости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к </a:t>
            </a:r>
            <a:r>
              <a:rPr lang="en-US" sz="16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шуму</a:t>
            </a:r>
            <a:r>
              <a:rPr lang="en-US" sz="16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1E7F238D-FF44-A741-1D0E-2E72EDE64A67}"/>
              </a:ext>
            </a:extLst>
          </p:cNvPr>
          <p:cNvSpPr/>
          <p:nvPr/>
        </p:nvSpPr>
        <p:spPr>
          <a:xfrm>
            <a:off x="716663" y="2478280"/>
            <a:ext cx="4956243" cy="1807256"/>
          </a:xfrm>
          <a:prstGeom prst="roundRect">
            <a:avLst>
              <a:gd name="adj" fmla="val 3673"/>
            </a:avLst>
          </a:prstGeom>
          <a:solidFill>
            <a:srgbClr val="E0D7CA"/>
          </a:solidFill>
          <a:ln w="7620">
            <a:solidFill>
              <a:srgbClr val="9C9283"/>
            </a:solidFill>
            <a:prstDash val="solid"/>
          </a:ln>
          <a:effectLst>
            <a:outerShdw dist="19050" dir="27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633EB563-A0EC-8CA6-0FAC-62A9F278E2BC}"/>
              </a:ext>
            </a:extLst>
          </p:cNvPr>
          <p:cNvSpPr/>
          <p:nvPr/>
        </p:nvSpPr>
        <p:spPr>
          <a:xfrm>
            <a:off x="931095" y="2622089"/>
            <a:ext cx="474167" cy="474167"/>
          </a:xfrm>
          <a:prstGeom prst="roundRect">
            <a:avLst>
              <a:gd name="adj" fmla="val 14730922"/>
            </a:avLst>
          </a:prstGeom>
          <a:solidFill>
            <a:srgbClr val="9C9283"/>
          </a:solidFill>
          <a:ln/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3493255B-FC31-02D5-4053-392DE1BE3580}"/>
              </a:ext>
            </a:extLst>
          </p:cNvPr>
          <p:cNvSpPr/>
          <p:nvPr/>
        </p:nvSpPr>
        <p:spPr>
          <a:xfrm>
            <a:off x="931095" y="3187099"/>
            <a:ext cx="2243403" cy="24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Градиентный Бустинг</a:t>
            </a:r>
            <a:endParaRPr lang="en-US" sz="2000" dirty="0">
              <a:latin typeface="Noto Serif 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D76B8B7-890A-8E41-1146-82871F467295}"/>
              </a:ext>
            </a:extLst>
          </p:cNvPr>
          <p:cNvSpPr/>
          <p:nvPr/>
        </p:nvSpPr>
        <p:spPr>
          <a:xfrm>
            <a:off x="931095" y="3582960"/>
            <a:ext cx="4628610" cy="50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Деревья строятся последовательно, исправляя ошибки предыдущих моделей.</a:t>
            </a:r>
            <a:endParaRPr lang="en-US" sz="160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695BF684-5ACC-9496-F2A1-4906B93BBED0}"/>
              </a:ext>
            </a:extLst>
          </p:cNvPr>
          <p:cNvSpPr/>
          <p:nvPr/>
        </p:nvSpPr>
        <p:spPr>
          <a:xfrm>
            <a:off x="716663" y="4731433"/>
            <a:ext cx="4956243" cy="1807256"/>
          </a:xfrm>
          <a:prstGeom prst="roundRect">
            <a:avLst>
              <a:gd name="adj" fmla="val 3673"/>
            </a:avLst>
          </a:prstGeom>
          <a:solidFill>
            <a:srgbClr val="E0D7CA"/>
          </a:solidFill>
          <a:ln w="7620">
            <a:solidFill>
              <a:srgbClr val="A8B8A2"/>
            </a:solidFill>
            <a:prstDash val="solid"/>
          </a:ln>
          <a:effectLst>
            <a:outerShdw dist="19050" dir="2700000" algn="bl" rotWithShape="0">
              <a:srgbClr val="A8B8A2">
                <a:alpha val="100000"/>
              </a:srgbClr>
            </a:outerShdw>
          </a:effectLst>
        </p:spPr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4A14E1E4-281C-5133-AD45-AE479D18C2ED}"/>
              </a:ext>
            </a:extLst>
          </p:cNvPr>
          <p:cNvSpPr/>
          <p:nvPr/>
        </p:nvSpPr>
        <p:spPr>
          <a:xfrm>
            <a:off x="931095" y="4875242"/>
            <a:ext cx="474167" cy="474167"/>
          </a:xfrm>
          <a:prstGeom prst="roundRect">
            <a:avLst>
              <a:gd name="adj" fmla="val 14730922"/>
            </a:avLst>
          </a:prstGeom>
          <a:solidFill>
            <a:srgbClr val="A8B8A2"/>
          </a:solidFill>
          <a:ln/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310D04B4-5BA9-1CBE-B5A2-C9F38933BE6B}"/>
              </a:ext>
            </a:extLst>
          </p:cNvPr>
          <p:cNvSpPr/>
          <p:nvPr/>
        </p:nvSpPr>
        <p:spPr>
          <a:xfrm>
            <a:off x="931095" y="5440252"/>
            <a:ext cx="3040291" cy="24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Прямая Обработка Категорий</a:t>
            </a:r>
            <a:endParaRPr lang="en-US" sz="2000" dirty="0">
              <a:latin typeface="Noto Serif "/>
            </a:endParaRPr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0C6E6A01-E640-3365-98FD-1A3A64743172}"/>
              </a:ext>
            </a:extLst>
          </p:cNvPr>
          <p:cNvSpPr/>
          <p:nvPr/>
        </p:nvSpPr>
        <p:spPr>
          <a:xfrm>
            <a:off x="931095" y="5836113"/>
            <a:ext cx="4956243" cy="50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Берёт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категориальные признаки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напрямую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что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снижает утечки данных.</a:t>
            </a:r>
            <a:endParaRPr lang="en-US" sz="1600" dirty="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4ABA622E-4B52-2BDB-845F-E91EF86B6FC3}"/>
              </a:ext>
            </a:extLst>
          </p:cNvPr>
          <p:cNvSpPr/>
          <p:nvPr/>
        </p:nvSpPr>
        <p:spPr>
          <a:xfrm>
            <a:off x="6618162" y="2477410"/>
            <a:ext cx="4956243" cy="1807256"/>
          </a:xfrm>
          <a:prstGeom prst="roundRect">
            <a:avLst>
              <a:gd name="adj" fmla="val 3673"/>
            </a:avLst>
          </a:prstGeom>
          <a:solidFill>
            <a:srgbClr val="E0D7CA"/>
          </a:solidFill>
          <a:ln w="7620">
            <a:solidFill>
              <a:srgbClr val="9C9283"/>
            </a:solidFill>
            <a:prstDash val="solid"/>
          </a:ln>
          <a:effectLst>
            <a:outerShdw dist="19050" dir="27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808C5754-3ED4-44EB-945B-650F25FA9332}"/>
              </a:ext>
            </a:extLst>
          </p:cNvPr>
          <p:cNvSpPr/>
          <p:nvPr/>
        </p:nvSpPr>
        <p:spPr>
          <a:xfrm>
            <a:off x="6832594" y="3186229"/>
            <a:ext cx="2243403" cy="24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dirty="0" err="1">
                <a:solidFill>
                  <a:srgbClr val="000000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Нелинейности</a:t>
            </a:r>
            <a:r>
              <a:rPr lang="en-US" sz="2000" dirty="0">
                <a:solidFill>
                  <a:srgbClr val="000000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 и </a:t>
            </a:r>
            <a:r>
              <a:rPr lang="en-US" sz="2000" dirty="0" err="1">
                <a:solidFill>
                  <a:srgbClr val="000000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Взаимодействия</a:t>
            </a:r>
            <a:endParaRPr lang="en-US" sz="2000" dirty="0">
              <a:latin typeface="Noto Serif "/>
            </a:endParaRPr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3044A8E6-563E-85DA-C146-F54A07F4932A}"/>
              </a:ext>
            </a:extLst>
          </p:cNvPr>
          <p:cNvSpPr/>
          <p:nvPr/>
        </p:nvSpPr>
        <p:spPr>
          <a:xfrm>
            <a:off x="6832594" y="3582090"/>
            <a:ext cx="4628610" cy="50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ru-RU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У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лавливает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сложные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паттерны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в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данных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в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отличие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от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линейных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моделей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sz="160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817C4A72-13C2-AD10-1E6C-900FCD6D646C}"/>
              </a:ext>
            </a:extLst>
          </p:cNvPr>
          <p:cNvSpPr/>
          <p:nvPr/>
        </p:nvSpPr>
        <p:spPr>
          <a:xfrm>
            <a:off x="6618162" y="4730563"/>
            <a:ext cx="4956243" cy="1807256"/>
          </a:xfrm>
          <a:prstGeom prst="roundRect">
            <a:avLst>
              <a:gd name="adj" fmla="val 3673"/>
            </a:avLst>
          </a:prstGeom>
          <a:solidFill>
            <a:srgbClr val="E0D7CA"/>
          </a:solidFill>
          <a:ln w="7620">
            <a:solidFill>
              <a:srgbClr val="A8B8A2"/>
            </a:solidFill>
            <a:prstDash val="solid"/>
          </a:ln>
          <a:effectLst>
            <a:outerShdw dist="19050" dir="2700000" algn="bl" rotWithShape="0">
              <a:srgbClr val="A8B8A2">
                <a:alpha val="100000"/>
              </a:srgbClr>
            </a:outerShdw>
          </a:effectLst>
        </p:spPr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483DBE94-DA30-8D90-E3ED-3D949D0AD1C3}"/>
              </a:ext>
            </a:extLst>
          </p:cNvPr>
          <p:cNvSpPr/>
          <p:nvPr/>
        </p:nvSpPr>
        <p:spPr>
          <a:xfrm>
            <a:off x="6832594" y="5439382"/>
            <a:ext cx="3040291" cy="24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dirty="0" err="1">
                <a:solidFill>
                  <a:srgbClr val="000000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Робастность</a:t>
            </a:r>
            <a:r>
              <a:rPr lang="en-US" sz="2000" dirty="0">
                <a:solidFill>
                  <a:srgbClr val="000000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 и </a:t>
            </a:r>
            <a:r>
              <a:rPr lang="en-US" sz="2000" dirty="0" err="1">
                <a:solidFill>
                  <a:srgbClr val="000000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Стабильность</a:t>
            </a:r>
            <a:endParaRPr lang="en-US" sz="2000" dirty="0">
              <a:latin typeface="Noto Serif 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F849C41A-C675-DFF0-A45E-0272A950872D}"/>
              </a:ext>
            </a:extLst>
          </p:cNvPr>
          <p:cNvSpPr/>
          <p:nvPr/>
        </p:nvSpPr>
        <p:spPr>
          <a:xfrm>
            <a:off x="6832594" y="5835243"/>
            <a:ext cx="4628610" cy="50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Устойчив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к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шуму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выбросам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и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не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требует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масштабирования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признаков</a:t>
            </a:r>
            <a:r>
              <a:rPr lang="en-US" sz="16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sz="1600" dirty="0"/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119E1958-A420-D74D-DE5C-EA58BBCC5D9D}"/>
              </a:ext>
            </a:extLst>
          </p:cNvPr>
          <p:cNvSpPr/>
          <p:nvPr/>
        </p:nvSpPr>
        <p:spPr>
          <a:xfrm>
            <a:off x="6832593" y="2622089"/>
            <a:ext cx="474168" cy="474168"/>
          </a:xfrm>
          <a:prstGeom prst="roundRect">
            <a:avLst>
              <a:gd name="adj" fmla="val 14730922"/>
            </a:avLst>
          </a:prstGeom>
          <a:solidFill>
            <a:srgbClr val="6F7F71"/>
          </a:solidFill>
          <a:ln/>
        </p:spPr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1B483797-1E2E-64BD-4803-1EFBB8D323BE}"/>
              </a:ext>
            </a:extLst>
          </p:cNvPr>
          <p:cNvSpPr/>
          <p:nvPr/>
        </p:nvSpPr>
        <p:spPr>
          <a:xfrm>
            <a:off x="6832594" y="4866927"/>
            <a:ext cx="474167" cy="474167"/>
          </a:xfrm>
          <a:prstGeom prst="roundRect">
            <a:avLst>
              <a:gd name="adj" fmla="val 14730922"/>
            </a:avLst>
          </a:prstGeom>
          <a:solidFill>
            <a:srgbClr val="D9CFC1"/>
          </a:solidFill>
          <a:ln/>
        </p:spPr>
      </p:sp>
      <p:pic>
        <p:nvPicPr>
          <p:cNvPr id="57" name="Image 0" descr="preencoded.png">
            <a:extLst>
              <a:ext uri="{FF2B5EF4-FFF2-40B4-BE49-F238E27FC236}">
                <a16:creationId xmlns:a16="http://schemas.microsoft.com/office/drawing/2014/main" id="{5706CB2C-D26B-F39A-9317-547A76CD6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99" y="2686821"/>
            <a:ext cx="279202" cy="349091"/>
          </a:xfrm>
          <a:prstGeom prst="rect">
            <a:avLst/>
          </a:prstGeom>
        </p:spPr>
      </p:pic>
      <p:pic>
        <p:nvPicPr>
          <p:cNvPr id="59" name="Image 2" descr="preencoded.png">
            <a:extLst>
              <a:ext uri="{FF2B5EF4-FFF2-40B4-BE49-F238E27FC236}">
                <a16:creationId xmlns:a16="http://schemas.microsoft.com/office/drawing/2014/main" id="{17EFBFD4-1D96-FB22-5269-EAFC9E6F6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577" y="4942253"/>
            <a:ext cx="279202" cy="349091"/>
          </a:xfrm>
          <a:prstGeom prst="rect">
            <a:avLst/>
          </a:prstGeom>
        </p:spPr>
      </p:pic>
      <p:pic>
        <p:nvPicPr>
          <p:cNvPr id="60" name="Image 1" descr="preencoded.png">
            <a:extLst>
              <a:ext uri="{FF2B5EF4-FFF2-40B4-BE49-F238E27FC236}">
                <a16:creationId xmlns:a16="http://schemas.microsoft.com/office/drawing/2014/main" id="{87520328-E1C9-2E6A-FEFC-4F4B1AE59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04" y="2678034"/>
            <a:ext cx="279202" cy="349091"/>
          </a:xfrm>
          <a:prstGeom prst="rect">
            <a:avLst/>
          </a:prstGeom>
        </p:spPr>
      </p:pic>
      <p:pic>
        <p:nvPicPr>
          <p:cNvPr id="62" name="Image 3" descr="preencoded.png">
            <a:extLst>
              <a:ext uri="{FF2B5EF4-FFF2-40B4-BE49-F238E27FC236}">
                <a16:creationId xmlns:a16="http://schemas.microsoft.com/office/drawing/2014/main" id="{B915DE98-5C93-49C4-1ADF-F8E95757AA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0076" y="4963627"/>
            <a:ext cx="279202" cy="3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57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1B913-0226-F0B3-EAA5-8718D00EB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CEB3D8-FF1B-30C9-8431-2773B5A0A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202" y="-366980"/>
            <a:ext cx="6817678" cy="1807160"/>
          </a:xfrm>
          <a:noFill/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>
              <a:lnSpc>
                <a:spcPts val="4350"/>
              </a:lnSpc>
            </a:pP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Почему</a:t>
            </a:r>
            <a:r>
              <a:rPr lang="en-US" sz="3500" dirty="0">
                <a:latin typeface="Noto Serif 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CatBoost</a:t>
            </a:r>
            <a:r>
              <a:rPr lang="en-US" sz="3500" dirty="0">
                <a:latin typeface="Noto Serif 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превосходит</a:t>
            </a:r>
            <a:r>
              <a:rPr lang="en-US" sz="3500" dirty="0">
                <a:latin typeface="Noto Serif 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Линейные</a:t>
            </a:r>
            <a:r>
              <a:rPr lang="en-US" sz="3500" dirty="0">
                <a:latin typeface="Noto Serif 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Модели</a:t>
            </a:r>
            <a:endParaRPr lang="en-US" sz="3500" dirty="0">
              <a:latin typeface="Noto Serif 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CE9DFFE-6AA9-6100-01D8-DCD4878B21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500"/>
          <a:stretch>
            <a:fillRect/>
          </a:stretch>
        </p:blipFill>
        <p:spPr>
          <a:xfrm>
            <a:off x="7223760" y="0"/>
            <a:ext cx="4968240" cy="6858000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994C6045-B98E-93D8-E764-809F86719487}"/>
              </a:ext>
            </a:extLst>
          </p:cNvPr>
          <p:cNvSpPr/>
          <p:nvPr/>
        </p:nvSpPr>
        <p:spPr>
          <a:xfrm>
            <a:off x="223202" y="1536144"/>
            <a:ext cx="3130788" cy="201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400" b="1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Нелинейные Паттерны:</a:t>
            </a:r>
            <a:r>
              <a:rPr lang="en-US" sz="14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Взаимодействия типа «часть суток × тип устройства × страна» </a:t>
            </a:r>
            <a:r>
              <a:rPr lang="en-US" sz="1400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улавливаются</a:t>
            </a:r>
            <a:r>
              <a:rPr lang="en-US" sz="14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CatBoost, но труднодоступны для линейных моделей.</a:t>
            </a:r>
            <a:endParaRPr lang="en-US" sz="14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7374222-6C0A-2BB5-4C18-127021C8324B}"/>
              </a:ext>
            </a:extLst>
          </p:cNvPr>
          <p:cNvSpPr/>
          <p:nvPr/>
        </p:nvSpPr>
        <p:spPr>
          <a:xfrm>
            <a:off x="223202" y="4089559"/>
            <a:ext cx="3130788" cy="2301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400" b="1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Категориальные Признаки:</a:t>
            </a:r>
            <a:r>
              <a:rPr lang="en-US" sz="14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CatBoost корректно кодирует и упорядочивает их, избегая проблем, свойственных One-Hot Encoding или Label Encoding в линейных моделях.</a:t>
            </a:r>
            <a:endParaRPr lang="en-US" sz="14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B159E9A9-5904-2E7C-0B28-B2B2DA876A76}"/>
              </a:ext>
            </a:extLst>
          </p:cNvPr>
          <p:cNvSpPr/>
          <p:nvPr/>
        </p:nvSpPr>
        <p:spPr>
          <a:xfrm>
            <a:off x="3719592" y="1536144"/>
            <a:ext cx="3412728" cy="201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400" b="1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Робастность:</a:t>
            </a:r>
            <a:r>
              <a:rPr lang="en-US" sz="14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Модель устойчива к шумным и коррелированным признакам, не требуя предварительной нормализации или стандартизации данных.</a:t>
            </a:r>
            <a:endParaRPr lang="en-US" sz="14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B01256F9-F6A8-A5D6-E5E6-F4D3E7CB4C11}"/>
              </a:ext>
            </a:extLst>
          </p:cNvPr>
          <p:cNvSpPr/>
          <p:nvPr/>
        </p:nvSpPr>
        <p:spPr>
          <a:xfrm>
            <a:off x="3719592" y="4089559"/>
            <a:ext cx="3344148" cy="201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400" b="1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Практическая Эффективность:</a:t>
            </a:r>
            <a:r>
              <a:rPr lang="en-US" sz="14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На наших данных переход от логистической регрессии к CatBoost показал заметное улучшение метрик, таких как AUC.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90102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D88C5-30EC-F849-F894-FD1E5D28C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D2E0507-18A7-86F6-C648-8003E90A6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>
              <a:lnSpc>
                <a:spcPts val="4450"/>
              </a:lnSpc>
            </a:pP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Честная</a:t>
            </a:r>
            <a:r>
              <a:rPr lang="en-US" sz="3500" dirty="0">
                <a:latin typeface="Noto Serif "/>
                <a:ea typeface="Noto Serif Medium" pitchFamily="34" charset="-122"/>
                <a:cs typeface="Noto Serif Medium" pitchFamily="34" charset="-120"/>
              </a:rPr>
              <a:t> </a:t>
            </a: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Оценка</a:t>
            </a:r>
            <a:r>
              <a:rPr lang="en-US" sz="3500" dirty="0">
                <a:latin typeface="Noto Serif "/>
                <a:ea typeface="Noto Serif Medium" pitchFamily="34" charset="-122"/>
                <a:cs typeface="Noto Serif Medium" pitchFamily="34" charset="-120"/>
              </a:rPr>
              <a:t>: </a:t>
            </a:r>
            <a:r>
              <a:rPr lang="en-US" sz="3500" dirty="0" err="1">
                <a:latin typeface="Noto Serif "/>
                <a:ea typeface="Noto Serif Medium" pitchFamily="34" charset="-122"/>
                <a:cs typeface="Noto Serif Medium" pitchFamily="34" charset="-120"/>
              </a:rPr>
              <a:t>Кросс-Валидация</a:t>
            </a:r>
            <a:endParaRPr lang="en-US" sz="3500" dirty="0">
              <a:latin typeface="Noto Serif 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029D823-D244-B5C3-083A-CA3B3D632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174635"/>
            <a:ext cx="11090274" cy="875145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Для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получения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объективной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оценки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качества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модели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и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предотвращения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переобучения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используе</a:t>
            </a:r>
            <a:r>
              <a:rPr lang="ru-RU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тся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строгую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процедуру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кросс-валидации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dirty="0"/>
          </a:p>
          <a:p>
            <a:pPr rtl="0"/>
            <a:endParaRPr lang="ru-RU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0B82497E-BD0F-D983-ED54-8250C12CA42B}"/>
              </a:ext>
            </a:extLst>
          </p:cNvPr>
          <p:cNvSpPr/>
          <p:nvPr/>
        </p:nvSpPr>
        <p:spPr>
          <a:xfrm>
            <a:off x="466131" y="1851863"/>
            <a:ext cx="5479630" cy="2394493"/>
          </a:xfrm>
          <a:prstGeom prst="roundRect">
            <a:avLst>
              <a:gd name="adj" fmla="val 5956"/>
            </a:avLst>
          </a:prstGeom>
          <a:solidFill>
            <a:srgbClr val="E6DED2"/>
          </a:solidFill>
          <a:ln w="30480">
            <a:solidFill>
              <a:srgbClr val="9C9283"/>
            </a:solidFill>
            <a:prstDash val="solid"/>
          </a:ln>
          <a:effectLst>
            <a:outerShdw dist="20320" dir="27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9EE66A4A-3B89-F10E-C4EE-DB345AE99D10}"/>
              </a:ext>
            </a:extLst>
          </p:cNvPr>
          <p:cNvSpPr/>
          <p:nvPr/>
        </p:nvSpPr>
        <p:spPr>
          <a:xfrm>
            <a:off x="814864" y="2109157"/>
            <a:ext cx="2696344" cy="345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5-Fold Stratified K-Fold</a:t>
            </a:r>
            <a:endParaRPr lang="en-US" sz="2200" dirty="0">
              <a:latin typeface="Noto Serif 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056DF0C-BCE9-80FA-5D11-5C1D3B6456B5}"/>
              </a:ext>
            </a:extLst>
          </p:cNvPr>
          <p:cNvSpPr/>
          <p:nvPr/>
        </p:nvSpPr>
        <p:spPr>
          <a:xfrm>
            <a:off x="814866" y="2502676"/>
            <a:ext cx="4961396" cy="106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Данные делятся на 5 частей с сохранением распределения классов. Модель обучается на 4 фолдах, тестируется на одном отложенном.</a:t>
            </a:r>
            <a:endParaRPr lang="en-US" sz="14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5E51CB40-1837-96F4-5703-EF2DDD237D13}"/>
              </a:ext>
            </a:extLst>
          </p:cNvPr>
          <p:cNvSpPr/>
          <p:nvPr/>
        </p:nvSpPr>
        <p:spPr>
          <a:xfrm>
            <a:off x="6294492" y="1840635"/>
            <a:ext cx="5479732" cy="2394493"/>
          </a:xfrm>
          <a:prstGeom prst="roundRect">
            <a:avLst>
              <a:gd name="adj" fmla="val 5956"/>
            </a:avLst>
          </a:prstGeom>
          <a:solidFill>
            <a:srgbClr val="E6DED2"/>
          </a:solidFill>
          <a:ln w="30480">
            <a:solidFill>
              <a:srgbClr val="6F7F71"/>
            </a:solidFill>
            <a:prstDash val="solid"/>
          </a:ln>
          <a:effectLst>
            <a:outerShdw dist="20320" dir="2700000" algn="bl" rotWithShape="0">
              <a:srgbClr val="6F7F71">
                <a:alpha val="100000"/>
              </a:srgbClr>
            </a:outerShdw>
          </a:effectLst>
        </p:spPr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30CB294E-86C3-A63C-CAA2-68DC6021DEDC}"/>
              </a:ext>
            </a:extLst>
          </p:cNvPr>
          <p:cNvSpPr/>
          <p:nvPr/>
        </p:nvSpPr>
        <p:spPr>
          <a:xfrm>
            <a:off x="6643226" y="2097929"/>
            <a:ext cx="2424500" cy="345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OOF-Предсказания</a:t>
            </a:r>
            <a:endParaRPr lang="en-US" sz="2200" dirty="0">
              <a:latin typeface="Noto Serif 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3813D061-0914-87D9-78B2-DFE14B705918}"/>
              </a:ext>
            </a:extLst>
          </p:cNvPr>
          <p:cNvSpPr/>
          <p:nvPr/>
        </p:nvSpPr>
        <p:spPr>
          <a:xfrm>
            <a:off x="6643227" y="2491448"/>
            <a:ext cx="4961498" cy="141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Собираются предсказания для каждого пользователя, сделанные моделью, которая "не видела" его во время обучения. Это гарантирует честность метрик.</a:t>
            </a:r>
            <a:endParaRPr lang="en-US" sz="140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9C128E1A-9190-15C1-4A76-56AFE9F338A9}"/>
              </a:ext>
            </a:extLst>
          </p:cNvPr>
          <p:cNvSpPr/>
          <p:nvPr/>
        </p:nvSpPr>
        <p:spPr>
          <a:xfrm>
            <a:off x="466130" y="4535293"/>
            <a:ext cx="5479629" cy="2040767"/>
          </a:xfrm>
          <a:prstGeom prst="roundRect">
            <a:avLst>
              <a:gd name="adj" fmla="val 6988"/>
            </a:avLst>
          </a:prstGeom>
          <a:solidFill>
            <a:srgbClr val="E6DED2"/>
          </a:solidFill>
          <a:ln w="30480">
            <a:solidFill>
              <a:srgbClr val="A8B8A2"/>
            </a:solidFill>
            <a:prstDash val="solid"/>
          </a:ln>
          <a:effectLst>
            <a:outerShdw dist="20320" dir="2700000" algn="bl" rotWithShape="0">
              <a:srgbClr val="A8B8A2">
                <a:alpha val="100000"/>
              </a:srgbClr>
            </a:outerShdw>
          </a:effectLst>
        </p:spPr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A6E122E9-A2CF-69DD-907B-2FF9EF72602D}"/>
              </a:ext>
            </a:extLst>
          </p:cNvPr>
          <p:cNvSpPr/>
          <p:nvPr/>
        </p:nvSpPr>
        <p:spPr>
          <a:xfrm>
            <a:off x="814864" y="4792587"/>
            <a:ext cx="2583127" cy="345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Подбор Порога по F1</a:t>
            </a:r>
            <a:endParaRPr lang="en-US" sz="2200" dirty="0">
              <a:latin typeface="Noto Serif "/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96B881E-B561-93C1-0A1D-0B1FFF79BA3B}"/>
              </a:ext>
            </a:extLst>
          </p:cNvPr>
          <p:cNvSpPr/>
          <p:nvPr/>
        </p:nvSpPr>
        <p:spPr>
          <a:xfrm>
            <a:off x="814866" y="5186107"/>
            <a:ext cx="4961396" cy="106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Оптимальный порог классификации (у нас ≈ 0.44) подбирается на OOF-предсказаниях для максимизации метрики F1.</a:t>
            </a:r>
            <a:endParaRPr lang="en-US" sz="14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B74A98DB-A252-AF74-600D-CC504ECA0F0A}"/>
              </a:ext>
            </a:extLst>
          </p:cNvPr>
          <p:cNvSpPr/>
          <p:nvPr/>
        </p:nvSpPr>
        <p:spPr>
          <a:xfrm>
            <a:off x="6294492" y="4524065"/>
            <a:ext cx="5479731" cy="2040767"/>
          </a:xfrm>
          <a:prstGeom prst="roundRect">
            <a:avLst>
              <a:gd name="adj" fmla="val 6988"/>
            </a:avLst>
          </a:prstGeom>
          <a:solidFill>
            <a:srgbClr val="E6DED2"/>
          </a:solidFill>
          <a:ln w="30480">
            <a:solidFill>
              <a:srgbClr val="D9CFC1"/>
            </a:solidFill>
            <a:prstDash val="solid"/>
          </a:ln>
          <a:effectLst>
            <a:outerShdw dist="20320" dir="2700000" algn="bl" rotWithShape="0">
              <a:srgbClr val="D9CFC1">
                <a:alpha val="100000"/>
              </a:srgbClr>
            </a:outerShdw>
          </a:effectLst>
        </p:spPr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5CE770C9-8CBE-03A2-B632-2E97511D36A8}"/>
              </a:ext>
            </a:extLst>
          </p:cNvPr>
          <p:cNvSpPr/>
          <p:nvPr/>
        </p:nvSpPr>
        <p:spPr>
          <a:xfrm>
            <a:off x="6643226" y="4781359"/>
            <a:ext cx="2424500" cy="345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Сводные Метрики</a:t>
            </a:r>
            <a:endParaRPr lang="en-US" sz="2200" dirty="0">
              <a:latin typeface="Noto Serif 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06F8911B-93B2-F2D2-A5DB-2A1C2C8ACDBA}"/>
              </a:ext>
            </a:extLst>
          </p:cNvPr>
          <p:cNvSpPr/>
          <p:nvPr/>
        </p:nvSpPr>
        <p:spPr>
          <a:xfrm>
            <a:off x="6643226" y="5174879"/>
            <a:ext cx="4961497" cy="106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Финальные метрики (AUC, F1, Accuracy) рассчитываются на всех OOF-предсказаниях, что дает надежную оценку производительности.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81246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7" descr="Цифровой фон точек данных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6680"/>
            <a:ext cx="9144000" cy="22860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Визуальные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BA00-D32D-C3C5-445A-DDBB14008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567B8D2-5576-4016-0269-10A3C5533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363" y="348615"/>
            <a:ext cx="11090274" cy="13320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Доли событий ночью/утром/днём/вечером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34C955-C98F-5605-C5EB-D897F3CC7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920" y="1432710"/>
            <a:ext cx="7734073" cy="5156049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70D96989-0B56-FD75-C9E9-97C2B63E721D}"/>
              </a:ext>
            </a:extLst>
          </p:cNvPr>
          <p:cNvSpPr/>
          <p:nvPr/>
        </p:nvSpPr>
        <p:spPr>
          <a:xfrm>
            <a:off x="5357892" y="1014615"/>
            <a:ext cx="3344148" cy="201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50"/>
              </a:lnSpc>
              <a:buSzPct val="100000"/>
            </a:pPr>
            <a:r>
              <a:rPr lang="en-US" sz="1400" b="1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train.scv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05910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92413-5D09-BB26-D1E5-12A763CC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98ED4E-A6E2-1165-6F2C-0862A1471E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433" y="1290062"/>
            <a:ext cx="6309133" cy="5257611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105D5A8-6A46-6320-F2B6-C59C3A921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386715"/>
            <a:ext cx="12265978" cy="436245"/>
          </a:xfrm>
        </p:spPr>
        <p:txBody>
          <a:bodyPr>
            <a:noAutofit/>
          </a:bodyPr>
          <a:lstStyle/>
          <a:p>
            <a:r>
              <a:rPr lang="ru-RU" sz="3000" dirty="0"/>
              <a:t> Кривая сильно выше диагонали, отличная  разделимость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94AB19D-BB70-7C33-75BB-E1F2C8E3C1AD}"/>
              </a:ext>
            </a:extLst>
          </p:cNvPr>
          <p:cNvSpPr/>
          <p:nvPr/>
        </p:nvSpPr>
        <p:spPr>
          <a:xfrm>
            <a:off x="4306332" y="885075"/>
            <a:ext cx="4746228" cy="201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  <a:buSzPct val="100000"/>
            </a:pPr>
            <a:r>
              <a:rPr lang="en-US" sz="1400" b="1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train.csv + referer_vectors.csv + geo_info.csv</a:t>
            </a:r>
          </a:p>
        </p:txBody>
      </p:sp>
    </p:spTree>
    <p:extLst>
      <p:ext uri="{BB962C8B-B14F-4D97-AF65-F5344CB8AC3E}">
        <p14:creationId xmlns:p14="http://schemas.microsoft.com/office/powerpoint/2010/main" val="3109675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9CD2-FCD6-9B3C-1384-69DAA0B6A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35F23FB-FA64-8CC4-5844-346E89E16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343" y="211455"/>
            <a:ext cx="11090274" cy="13320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Кривая высоко</a:t>
            </a:r>
            <a:r>
              <a:rPr lang="en-US" dirty="0"/>
              <a:t>, </a:t>
            </a:r>
            <a:r>
              <a:rPr lang="ru-RU" dirty="0"/>
              <a:t>хорошая точность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AE7EAF-9B02-8476-06DC-4B18D079C7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790" y="1280160"/>
            <a:ext cx="6299989" cy="5249991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608CB322-BB37-ECA9-7D6E-31C113790E4B}"/>
              </a:ext>
            </a:extLst>
          </p:cNvPr>
          <p:cNvSpPr/>
          <p:nvPr/>
        </p:nvSpPr>
        <p:spPr>
          <a:xfrm>
            <a:off x="4138692" y="877455"/>
            <a:ext cx="4746228" cy="201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  <a:buSzPct val="100000"/>
            </a:pPr>
            <a:r>
              <a:rPr lang="en-US" sz="1400" b="1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train.csv + referer_vectors.csv + geo_info.csv</a:t>
            </a:r>
          </a:p>
        </p:txBody>
      </p:sp>
    </p:spTree>
    <p:extLst>
      <p:ext uri="{BB962C8B-B14F-4D97-AF65-F5344CB8AC3E}">
        <p14:creationId xmlns:p14="http://schemas.microsoft.com/office/powerpoint/2010/main" val="4035248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3E57E-56D8-A0F1-F1CE-0DACA58C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B05A4B8-83DE-48E9-08DD-00E8DD358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903" y="401955"/>
            <a:ext cx="11090274" cy="13320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Большинство предсказаний верны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53767B-1715-A316-52C6-9B07D0F28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660" y="1520594"/>
            <a:ext cx="5181411" cy="5181411"/>
          </a:xfrm>
          <a:prstGeom prst="rect">
            <a:avLst/>
          </a:prstGeom>
        </p:spPr>
      </p:pic>
      <p:sp>
        <p:nvSpPr>
          <p:cNvPr id="5" name="Text 4">
            <a:extLst>
              <a:ext uri="{FF2B5EF4-FFF2-40B4-BE49-F238E27FC236}">
                <a16:creationId xmlns:a16="http://schemas.microsoft.com/office/drawing/2014/main" id="{DE29141C-531C-5786-DCDB-ACF96DF47D7F}"/>
              </a:ext>
            </a:extLst>
          </p:cNvPr>
          <p:cNvSpPr/>
          <p:nvPr/>
        </p:nvSpPr>
        <p:spPr>
          <a:xfrm>
            <a:off x="2843292" y="1067955"/>
            <a:ext cx="6780768" cy="201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50"/>
              </a:lnSpc>
              <a:buSzPct val="100000"/>
            </a:pPr>
            <a:r>
              <a:rPr lang="en-US" sz="1400" b="1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train_labels.csv (</a:t>
            </a:r>
            <a:r>
              <a:rPr lang="ru-RU" sz="1400" b="1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свои данные для дополнительного теста модели) </a:t>
            </a:r>
            <a:endParaRPr lang="en-US" sz="1400" b="1" dirty="0">
              <a:latin typeface="Noto Serif" pitchFamily="34" charset="0"/>
              <a:ea typeface="Noto Serif" pitchFamily="34" charset="-122"/>
              <a:cs typeface="Noto Serif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26357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13320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Статистика </a:t>
            </a:r>
            <a:r>
              <a:rPr lang="en-US" dirty="0"/>
              <a:t>CV(OOF)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282" y="1617115"/>
            <a:ext cx="5435600" cy="399565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en-US" dirty="0"/>
              <a:t>CV</a:t>
            </a:r>
            <a:r>
              <a:rPr lang="ru-RU" dirty="0"/>
              <a:t> результаты неплохие, однако на учебных </a:t>
            </a:r>
            <a:r>
              <a:rPr lang="ru-RU" dirty="0" err="1"/>
              <a:t>данныъ</a:t>
            </a:r>
            <a:r>
              <a:rPr lang="ru-RU" dirty="0"/>
              <a:t> модель ведёт себя точнее </a:t>
            </a:r>
          </a:p>
          <a:p>
            <a:pPr lvl="1"/>
            <a:r>
              <a:rPr lang="ru-RU" dirty="0"/>
              <a:t>F1: 0.</a:t>
            </a:r>
            <a:r>
              <a:rPr lang="en-US" dirty="0"/>
              <a:t>684</a:t>
            </a:r>
            <a:r>
              <a:rPr lang="ru-RU" dirty="0"/>
              <a:t> —  неплохой баланс между точностью и полнотой</a:t>
            </a:r>
          </a:p>
          <a:p>
            <a:pPr lvl="1"/>
            <a:r>
              <a:rPr lang="ru-RU" dirty="0"/>
              <a:t>AUC: 0.734 — модель хорошо разделяет классы по вероятности.</a:t>
            </a:r>
          </a:p>
          <a:p>
            <a:pPr lvl="1"/>
            <a:r>
              <a:rPr lang="en-US" dirty="0"/>
              <a:t>Accuracy: </a:t>
            </a:r>
            <a:r>
              <a:rPr lang="ru-RU" dirty="0"/>
              <a:t>61</a:t>
            </a:r>
            <a:r>
              <a:rPr lang="en-US" dirty="0"/>
              <a:t>%</a:t>
            </a:r>
            <a:r>
              <a:rPr lang="ru-RU" dirty="0"/>
              <a:t> - неплохая точность</a:t>
            </a:r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A2E1A-2A66-CBAE-C61C-6B4EABF96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F7219CA-24A7-A7E0-7F94-02D666DC3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775" y="551974"/>
            <a:ext cx="11090274" cy="13320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Итоги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F328CE21-ADDF-B852-5C5F-965BC328B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0822" y="1319935"/>
            <a:ext cx="3983038" cy="3995650"/>
          </a:xfrm>
        </p:spPr>
        <p:txBody>
          <a:bodyPr/>
          <a:lstStyle/>
          <a:p>
            <a:r>
              <a:rPr lang="ru-RU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ешение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обеспечивает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значительную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бизнес-ценность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и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имеет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большой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потенциал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для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дальнейшего</a:t>
            </a:r>
            <a:r>
              <a:rPr lang="en-US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 </a:t>
            </a:r>
            <a:r>
              <a:rPr lang="en-US" dirty="0" err="1">
                <a:latin typeface="Noto Serif" pitchFamily="34" charset="0"/>
                <a:ea typeface="Noto Serif" pitchFamily="34" charset="-122"/>
                <a:cs typeface="Noto Serif" pitchFamily="34" charset="-120"/>
              </a:rPr>
              <a:t>развития</a:t>
            </a:r>
            <a:endParaRPr lang="ru-RU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06F5512E-0F0B-D78B-3B79-3A4293AE0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297" y="762000"/>
            <a:ext cx="476012" cy="1143000"/>
          </a:xfrm>
          <a:prstGeom prst="rect">
            <a:avLst/>
          </a:prstGeom>
        </p:spPr>
      </p:pic>
      <p:sp>
        <p:nvSpPr>
          <p:cNvPr id="21" name="Text 7">
            <a:extLst>
              <a:ext uri="{FF2B5EF4-FFF2-40B4-BE49-F238E27FC236}">
                <a16:creationId xmlns:a16="http://schemas.microsoft.com/office/drawing/2014/main" id="{6C6C7367-6D35-5567-BF66-86604B440CF8}"/>
              </a:ext>
            </a:extLst>
          </p:cNvPr>
          <p:cNvSpPr/>
          <p:nvPr/>
        </p:nvSpPr>
        <p:spPr>
          <a:xfrm>
            <a:off x="5483900" y="920591"/>
            <a:ext cx="1983462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Noto Serif "/>
                <a:ea typeface="Noto Serif Medium" pitchFamily="34" charset="-122"/>
                <a:cs typeface="Noto Serif Medium" pitchFamily="34" charset="-120"/>
              </a:rPr>
              <a:t>Тюнинг CatBoost</a:t>
            </a:r>
            <a:endParaRPr lang="en-US" sz="1550" dirty="0">
              <a:latin typeface="Noto Serif 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F8299469-5F6E-4E61-1C37-1373B8C9F0D4}"/>
              </a:ext>
            </a:extLst>
          </p:cNvPr>
          <p:cNvSpPr/>
          <p:nvPr/>
        </p:nvSpPr>
        <p:spPr>
          <a:xfrm>
            <a:off x="5483900" y="1327071"/>
            <a:ext cx="5931813" cy="507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Исследование регуляризации, grow_policy, border_count и глубины для дальнейшей оптимизации.</a:t>
            </a:r>
            <a:endParaRPr lang="en-US" sz="1200" dirty="0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6B547837-3CC2-3794-85AA-6D13C2D42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303" y="2151936"/>
            <a:ext cx="476012" cy="1143000"/>
          </a:xfrm>
          <a:prstGeom prst="rect">
            <a:avLst/>
          </a:prstGeom>
        </p:spPr>
      </p:pic>
      <p:sp>
        <p:nvSpPr>
          <p:cNvPr id="24" name="Text 9">
            <a:extLst>
              <a:ext uri="{FF2B5EF4-FFF2-40B4-BE49-F238E27FC236}">
                <a16:creationId xmlns:a16="http://schemas.microsoft.com/office/drawing/2014/main" id="{E7037303-F02D-BEFF-5D02-0232D825413D}"/>
              </a:ext>
            </a:extLst>
          </p:cNvPr>
          <p:cNvSpPr/>
          <p:nvPr/>
        </p:nvSpPr>
        <p:spPr>
          <a:xfrm>
            <a:off x="5721906" y="2310527"/>
            <a:ext cx="2794397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Noto Serif "/>
                <a:ea typeface="Noto Serif Medium" pitchFamily="34" charset="-122"/>
                <a:cs typeface="Noto Serif Medium" pitchFamily="34" charset="-120"/>
              </a:rPr>
              <a:t>Блендинг/Стэкинг Моделей</a:t>
            </a:r>
            <a:endParaRPr lang="en-US" sz="1550" dirty="0">
              <a:latin typeface="Noto Serif 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16F56635-C566-4BF7-F7EC-2A6E664700FE}"/>
              </a:ext>
            </a:extLst>
          </p:cNvPr>
          <p:cNvSpPr/>
          <p:nvPr/>
        </p:nvSpPr>
        <p:spPr>
          <a:xfrm>
            <a:off x="5721906" y="2717006"/>
            <a:ext cx="5693807" cy="507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Комбинирование CatBoost с LightGBM и логистической регрессией для повышения надежности.</a:t>
            </a:r>
            <a:endParaRPr lang="en-US" sz="1200" dirty="0"/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33223D74-0742-5BA1-6B1D-C223ACC03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308" y="3541871"/>
            <a:ext cx="476012" cy="1143000"/>
          </a:xfrm>
          <a:prstGeom prst="rect">
            <a:avLst/>
          </a:prstGeom>
        </p:spPr>
      </p:pic>
      <p:sp>
        <p:nvSpPr>
          <p:cNvPr id="27" name="Text 11">
            <a:extLst>
              <a:ext uri="{FF2B5EF4-FFF2-40B4-BE49-F238E27FC236}">
                <a16:creationId xmlns:a16="http://schemas.microsoft.com/office/drawing/2014/main" id="{DECC8621-753A-6386-E351-ED2E8729DC98}"/>
              </a:ext>
            </a:extLst>
          </p:cNvPr>
          <p:cNvSpPr/>
          <p:nvPr/>
        </p:nvSpPr>
        <p:spPr>
          <a:xfrm>
            <a:off x="5959912" y="3700462"/>
            <a:ext cx="2125623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Noto Serif "/>
                <a:ea typeface="Noto Serif Medium" pitchFamily="34" charset="-122"/>
                <a:cs typeface="Noto Serif Medium" pitchFamily="34" charset="-120"/>
              </a:rPr>
              <a:t>Текстовые Признаки</a:t>
            </a:r>
            <a:endParaRPr lang="en-US" sz="1550" dirty="0">
              <a:latin typeface="Noto Serif 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4320F886-33CB-090C-612D-AAF076A81806}"/>
              </a:ext>
            </a:extLst>
          </p:cNvPr>
          <p:cNvSpPr/>
          <p:nvPr/>
        </p:nvSpPr>
        <p:spPr>
          <a:xfrm>
            <a:off x="5959912" y="4106942"/>
            <a:ext cx="5455801" cy="507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Использование TF-IDF и эмбеддингов для анализа текстовых данных из referer path.</a:t>
            </a:r>
            <a:endParaRPr lang="en-US" sz="1200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85284311-BF5E-1779-1746-235657DD8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314" y="4931807"/>
            <a:ext cx="476012" cy="1143000"/>
          </a:xfrm>
          <a:prstGeom prst="rect">
            <a:avLst/>
          </a:prstGeom>
        </p:spPr>
      </p:pic>
      <p:sp>
        <p:nvSpPr>
          <p:cNvPr id="30" name="Text 13">
            <a:extLst>
              <a:ext uri="{FF2B5EF4-FFF2-40B4-BE49-F238E27FC236}">
                <a16:creationId xmlns:a16="http://schemas.microsoft.com/office/drawing/2014/main" id="{E771743F-5786-A023-2914-3B70049016C5}"/>
              </a:ext>
            </a:extLst>
          </p:cNvPr>
          <p:cNvSpPr/>
          <p:nvPr/>
        </p:nvSpPr>
        <p:spPr>
          <a:xfrm>
            <a:off x="6197918" y="5090398"/>
            <a:ext cx="2644616" cy="24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latin typeface="Noto Serif "/>
                <a:ea typeface="Noto Serif Medium" pitchFamily="34" charset="-122"/>
                <a:cs typeface="Noto Serif Medium" pitchFamily="34" charset="-120"/>
              </a:rPr>
              <a:t>Semi-Supervised Обучение</a:t>
            </a:r>
            <a:endParaRPr lang="en-US" sz="1550" dirty="0">
              <a:latin typeface="Noto Serif "/>
            </a:endParaRPr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06AC4F56-6893-3648-6D33-65CBFD805893}"/>
              </a:ext>
            </a:extLst>
          </p:cNvPr>
          <p:cNvSpPr/>
          <p:nvPr/>
        </p:nvSpPr>
        <p:spPr>
          <a:xfrm>
            <a:off x="6197918" y="5496877"/>
            <a:ext cx="5217795" cy="507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latin typeface="Noto Serif" pitchFamily="34" charset="0"/>
                <a:ea typeface="Noto Serif" pitchFamily="34" charset="-122"/>
                <a:cs typeface="Noto Serif" pitchFamily="34" charset="-120"/>
              </a:rPr>
              <a:t>Применение псевдометок на тестовой выборке для использования неразмеченных данных.</a:t>
            </a:r>
            <a:endParaRPr lang="en-US" sz="12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37CB4943-1343-85DE-A38D-E9B437DE26A5}"/>
              </a:ext>
            </a:extLst>
          </p:cNvPr>
          <p:cNvSpPr/>
          <p:nvPr/>
        </p:nvSpPr>
        <p:spPr>
          <a:xfrm>
            <a:off x="4905911" y="254556"/>
            <a:ext cx="2380178" cy="29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FDFBF7"/>
                </a:solidFill>
                <a:latin typeface="Noto Serif "/>
                <a:ea typeface="Noto Serif Medium" pitchFamily="34" charset="-122"/>
                <a:cs typeface="Noto Serif Medium" pitchFamily="34" charset="-120"/>
              </a:rPr>
              <a:t>Планы на Будущее</a:t>
            </a:r>
            <a:endParaRPr lang="en-US" sz="1850" dirty="0">
              <a:latin typeface="Noto Serif "/>
            </a:endParaRPr>
          </a:p>
        </p:txBody>
      </p:sp>
    </p:spTree>
    <p:extLst>
      <p:ext uri="{BB962C8B-B14F-4D97-AF65-F5344CB8AC3E}">
        <p14:creationId xmlns:p14="http://schemas.microsoft.com/office/powerpoint/2010/main" val="125702627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713516_win32_SL_V10" id="{E46C2CD7-2554-477F-A8C8-CFF94EB09A28}" vid="{537905CE-FEA4-4496-8A76-17AAC9F79BF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3655</TotalTime>
  <Words>696</Words>
  <Application>Microsoft Office PowerPoint</Application>
  <PresentationFormat>Широкоэкранный</PresentationFormat>
  <Paragraphs>96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Arial</vt:lpstr>
      <vt:lpstr>Calibri</vt:lpstr>
      <vt:lpstr>Noto Serif</vt:lpstr>
      <vt:lpstr>Noto Serif </vt:lpstr>
      <vt:lpstr>Noto Serif Light</vt:lpstr>
      <vt:lpstr>Noto Serif Medium</vt:lpstr>
      <vt:lpstr>Walbaum Display</vt:lpstr>
      <vt:lpstr>3DFloatVTI</vt:lpstr>
      <vt:lpstr>VK Practice: Предсказание Пола Пользователей</vt:lpstr>
      <vt:lpstr>Цель Проекта и Бизнес-Ценность</vt:lpstr>
      <vt:lpstr>Пайплайн Решения: От Данных к Предсказанию</vt:lpstr>
      <vt:lpstr>Модель: CatBoost для Точных Предсказаний</vt:lpstr>
      <vt:lpstr>Почему CatBoost превосходит Линейные Модели</vt:lpstr>
      <vt:lpstr>Честная Оценка: Кросс-Валидация</vt:lpstr>
      <vt:lpstr>Визуальные данные</vt:lpstr>
      <vt:lpstr>Доли событий ночью/утром/днём/вечером</vt:lpstr>
      <vt:lpstr> Кривая сильно выше диагонали, отличная  разделимость</vt:lpstr>
      <vt:lpstr>Кривая высоко, хорошая точность</vt:lpstr>
      <vt:lpstr>Большинство предсказаний верны</vt:lpstr>
      <vt:lpstr>Статистика CV(OOF)</vt:lpstr>
      <vt:lpstr>Итоги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Роман Шваров</cp:lastModifiedBy>
  <cp:revision>4</cp:revision>
  <dcterms:created xsi:type="dcterms:W3CDTF">2023-12-19T21:03:45Z</dcterms:created>
  <dcterms:modified xsi:type="dcterms:W3CDTF">2025-08-14T21:07:54Z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